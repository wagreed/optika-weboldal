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19" autoAdjust="0"/>
  </p:normalViewPr>
  <p:slideViewPr>
    <p:cSldViewPr snapToGrid="0">
      <p:cViewPr varScale="1">
        <p:scale>
          <a:sx n="156" d="100"/>
          <a:sy n="156" d="100"/>
        </p:scale>
        <p:origin x="34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42CC5-0219-B5A3-F8A8-4171A98E8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9F6B1-30AF-4EE1-F84D-E806366D2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C05803-F370-5A31-3C21-8BAADBCC0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C1686-53E1-5951-6745-F3178159F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6934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E7D9B-D878-7B41-88CB-322ABD3FA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19D93-E097-75A9-A212-4BC38BD1C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6950D-1A6F-66A6-69D9-B1FA824F1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D1816-E697-6D9D-F103-195F65C5E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5041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A5A4C-2B61-B597-E890-D3A8EDEF7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AF151-AE97-DC13-7604-B69E9A0D1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3B2FC-C10F-607F-1CBF-539AF9AD3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C1748-76B7-9DF6-9F2B-98A49257C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706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A231-BC31-6C54-D6DC-49619253D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7CF14-5793-3056-A253-94D3EE6DB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88CB8-AB97-F106-4050-891FFC164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C07CD-55E6-1794-2DB6-2DB5BABCB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8399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8EEEF-730C-A2AA-5CC7-8A406360D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8B7D3-0F69-2B63-70CD-A8602EDE0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0AAAF-5514-81A2-C76B-1375719FF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AF584-B283-178D-2AC9-C3C89C0BB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293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5058" y="519784"/>
            <a:ext cx="4165956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/>
              <a:t>Optika</a:t>
            </a:r>
            <a:r>
              <a:rPr lang="en-US" sz="4000" dirty="0"/>
              <a:t> </a:t>
            </a:r>
            <a:r>
              <a:rPr lang="en-US" sz="4000" dirty="0" err="1"/>
              <a:t>Weboldal</a:t>
            </a:r>
            <a:r>
              <a:rPr lang="en-US" sz="4000" dirty="0"/>
              <a:t> – Full-stack </a:t>
            </a:r>
            <a:r>
              <a:rPr lang="en-US" sz="4000" dirty="0" err="1"/>
              <a:t>fejleszt</a:t>
            </a:r>
            <a:r>
              <a:rPr lang="hu-HU" sz="4000" dirty="0"/>
              <a:t>és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5058" y="3130067"/>
            <a:ext cx="3717962" cy="1026544"/>
          </a:xfrm>
        </p:spPr>
        <p:txBody>
          <a:bodyPr>
            <a:normAutofit/>
          </a:bodyPr>
          <a:lstStyle/>
          <a:p>
            <a:pPr algn="l"/>
            <a:r>
              <a:rPr lang="hu-HU" sz="2300" dirty="0"/>
              <a:t>Laravel és Nuxt használatával</a:t>
            </a:r>
            <a:endParaRPr lang="en-US" sz="23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B47E1A4-9BCC-AF2D-F310-7049EAEFB36E}"/>
              </a:ext>
            </a:extLst>
          </p:cNvPr>
          <p:cNvSpPr txBox="1">
            <a:spLocks/>
          </p:cNvSpPr>
          <p:nvPr/>
        </p:nvSpPr>
        <p:spPr>
          <a:xfrm>
            <a:off x="7479763" y="5057311"/>
            <a:ext cx="3717962" cy="32999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u-HU" sz="1600" dirty="0"/>
              <a:t>Készítette: Csiszer Hunor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Project Architekt</a:t>
            </a:r>
            <a:r>
              <a:rPr lang="hu-HU" sz="4000" dirty="0"/>
              <a:t>úra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400" dirty="0"/>
              <a:t>Laravel (PHP):</a:t>
            </a:r>
            <a:br>
              <a:rPr lang="hu-HU" sz="2400" dirty="0"/>
            </a:br>
            <a:r>
              <a:rPr lang="hu-HU" sz="2400" dirty="0"/>
              <a:t>Alkalmazottak által látott rendszer</a:t>
            </a:r>
            <a:br>
              <a:rPr lang="en-US" sz="2400" dirty="0"/>
            </a:br>
            <a:r>
              <a:rPr lang="en-US" sz="2400" dirty="0"/>
              <a:t>API v</a:t>
            </a:r>
            <a:r>
              <a:rPr lang="hu-HU" sz="2400" dirty="0"/>
              <a:t>égpontok és üzleti logika</a:t>
            </a:r>
          </a:p>
          <a:p>
            <a:r>
              <a:rPr lang="hu-HU" sz="2400" dirty="0"/>
              <a:t>Nuxt:</a:t>
            </a:r>
            <a:br>
              <a:rPr lang="hu-HU" sz="2400" dirty="0"/>
            </a:br>
            <a:r>
              <a:rPr lang="hu-HU" sz="2400" dirty="0"/>
              <a:t>Felhasználók által látott webshop</a:t>
            </a:r>
            <a:br>
              <a:rPr lang="hu-HU" sz="2400" dirty="0"/>
            </a:br>
            <a:r>
              <a:rPr lang="hu-HU" sz="2400" dirty="0"/>
              <a:t>Single Page Application élmény, SEO optimalizált oldal</a:t>
            </a:r>
          </a:p>
          <a:p>
            <a:r>
              <a:rPr lang="hu-HU" sz="2400" dirty="0"/>
              <a:t>MySQL:</a:t>
            </a:r>
            <a:br>
              <a:rPr lang="hu-HU" sz="2400" dirty="0"/>
            </a:br>
            <a:r>
              <a:rPr lang="hu-HU" sz="2400" dirty="0"/>
              <a:t>Relációs adatbázis</a:t>
            </a:r>
          </a:p>
          <a:p>
            <a:r>
              <a:rPr lang="hu-HU" sz="2400" dirty="0"/>
              <a:t>UnoCSS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86848-3C46-D6D6-2A23-B305C1C9B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C5615F14-E395-B0E0-D231-BBE66E584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945EB1-BF17-8720-863D-42A77EF7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065C088-13D7-60EB-1249-235649498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8D8818-16C8-B6E4-9D07-5188C69B8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hu-HU" sz="4000" dirty="0"/>
              <a:t>Adatbázis Tervezés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44C0A4C-4405-7EBF-51D4-2F61C414E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fontScale="92500" lnSpcReduction="10000"/>
          </a:bodyPr>
          <a:lstStyle/>
          <a:p>
            <a:r>
              <a:rPr lang="hu-HU" sz="2400" dirty="0"/>
              <a:t>Laravel migrációk segítségével készítjük el az adatbázis szerkezetét, így mindenki ugyanazt a struktúrát használja</a:t>
            </a:r>
          </a:p>
          <a:p>
            <a:r>
              <a:rPr lang="hu-HU" sz="2400" dirty="0"/>
              <a:t>A parent_id mező lehetővé tesz egy többszintű kategóriarendszert</a:t>
            </a:r>
          </a:p>
          <a:p>
            <a:r>
              <a:rPr lang="hu-HU" sz="2400" dirty="0"/>
              <a:t>A slug mező biztosítja a keresőbarát, tiszta URL-eket</a:t>
            </a:r>
          </a:p>
          <a:p>
            <a:r>
              <a:rPr lang="hu-HU" sz="2400" dirty="0"/>
              <a:t>A sort_order és is_active mezők pedig adminisztrációs funkciók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104794-7A10-259F-817D-295F86A6CB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793" y="1323003"/>
            <a:ext cx="4917169" cy="42119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4654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2A677D-6A3B-7A3F-B974-B5D2D13BE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66FB0B5E-FCE6-309D-37F8-C220E6684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145AA-2A93-5E13-6D5F-F9272551D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62DA4CD-376C-759C-C89D-7D7A2F3D8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B4569A-8AAE-5325-E201-85A0B95F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hu-HU" sz="4000" dirty="0"/>
              <a:t>Adatmodellek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CAB19C4-0872-A027-2EAC-6FEF92652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809500"/>
          </a:xfrm>
        </p:spPr>
        <p:txBody>
          <a:bodyPr anchor="t">
            <a:normAutofit fontScale="92500" lnSpcReduction="10000"/>
          </a:bodyPr>
          <a:lstStyle/>
          <a:p>
            <a:r>
              <a:rPr lang="hu-HU" sz="2400" dirty="0"/>
              <a:t>A </a:t>
            </a:r>
            <a:r>
              <a:rPr lang="ro-RO" sz="2400" dirty="0"/>
              <a:t>$fillable </a:t>
            </a:r>
            <a:r>
              <a:rPr lang="hu-HU" sz="2400" dirty="0"/>
              <a:t>tömb definiálja, mely mezők tölthetőek ki tömegesen, védve jogosulatlan módosítástól</a:t>
            </a:r>
          </a:p>
          <a:p>
            <a:r>
              <a:rPr lang="hu-HU" sz="2400" dirty="0"/>
              <a:t>A casts() metódus biztósítja hogy az is_active mindig logikai érték legyen a kódban, ne </a:t>
            </a:r>
            <a:r>
              <a:rPr lang="ro-RO" sz="2400" dirty="0"/>
              <a:t>0 vagy 1</a:t>
            </a:r>
          </a:p>
          <a:p>
            <a:r>
              <a:rPr lang="ro-RO" sz="2400" dirty="0"/>
              <a:t>belongsToMany kapcsolat, mivel egy term</a:t>
            </a:r>
            <a:r>
              <a:rPr lang="hu-HU" sz="2400" dirty="0"/>
              <a:t>ék több kategóriához is tartozhat</a:t>
            </a:r>
          </a:p>
          <a:p>
            <a:r>
              <a:rPr lang="hu-HU" sz="2400" dirty="0"/>
              <a:t>parent() és children() metódusok a többszintű kategóriarendszer kezeléséhez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BA754-8EDB-A939-B29B-7B761DCB74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358" y="701022"/>
            <a:ext cx="4212745" cy="545595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1414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59E74-09E2-46C0-6359-A52340DDD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336663DC-5C85-D488-6E2A-9C7F72BF7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CF0403-B299-C3E7-D273-8C9386E3E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C8701BE-B0B9-3BCE-968C-0C6867DEC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0A2F16-E76B-08A5-B566-4B4CCC455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5035802" cy="970450"/>
          </a:xfrm>
        </p:spPr>
        <p:txBody>
          <a:bodyPr anchor="b">
            <a:normAutofit fontScale="90000"/>
          </a:bodyPr>
          <a:lstStyle/>
          <a:p>
            <a:pPr algn="l"/>
            <a:r>
              <a:rPr lang="hu-HU" sz="4000" dirty="0"/>
              <a:t>Útvonalválasztás (Routing)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5B83031-C16E-BDCE-6660-E03DE0889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lnSpcReduction="10000"/>
          </a:bodyPr>
          <a:lstStyle/>
          <a:p>
            <a:r>
              <a:rPr lang="hu-HU" sz="2400" dirty="0"/>
              <a:t>A regisztráció és bejelentkezés mindenki számára elérhető, hogy beléphessenek a rendszerbe.</a:t>
            </a:r>
          </a:p>
          <a:p>
            <a:r>
              <a:rPr lang="hu-HU" sz="2400" dirty="0"/>
              <a:t>Az auth:sanctum middleware biztosítja, hogy a csoporton belüli útvonalakat csak bejelentkezett felhasználók érjék el.</a:t>
            </a:r>
          </a:p>
          <a:p>
            <a:r>
              <a:rPr lang="hu-HU" sz="2400" dirty="0"/>
              <a:t>RESTFUL: GET, POST, 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C0327-195F-44FA-8F32-3A78A0ED46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584" y="2142264"/>
            <a:ext cx="4713587" cy="257347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8719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DC02E-E7CC-EE04-6676-EA5BDD773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93806FAA-2ECA-3755-5B9A-BBC0A0177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F7C19C-04F0-215C-421A-FDD54A193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221F61B-C3AB-BFF3-CDB6-9299DC677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0B0CA-486D-E677-6159-FF4F31BFE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2" y="609600"/>
            <a:ext cx="4728957" cy="970450"/>
          </a:xfrm>
        </p:spPr>
        <p:txBody>
          <a:bodyPr anchor="b">
            <a:normAutofit fontScale="90000"/>
          </a:bodyPr>
          <a:lstStyle/>
          <a:p>
            <a:pPr algn="l"/>
            <a:r>
              <a:rPr lang="hu-HU" sz="4000" dirty="0"/>
              <a:t>Hitelesítés és Regisztráció (Controller)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E62993A-4485-491E-A587-13743D78F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662214"/>
          </a:xfrm>
        </p:spPr>
        <p:txBody>
          <a:bodyPr anchor="t">
            <a:normAutofit fontScale="85000" lnSpcReduction="20000"/>
          </a:bodyPr>
          <a:lstStyle/>
          <a:p>
            <a:r>
              <a:rPr lang="hu-HU" sz="2400" dirty="0"/>
              <a:t>A validate metódus ellenőrzi az email egyediségét, a jelszó erősségét és megerősítését (confirmed) még az adatbázisművelet előtt</a:t>
            </a:r>
          </a:p>
          <a:p>
            <a:r>
              <a:rPr lang="hu-HU" sz="2400" dirty="0"/>
              <a:t>Nemcsak felhasználót hoz létre, hanem automatikusan hozzákapcsol egy alapértelmezett profilt (konzisztencia)</a:t>
            </a:r>
          </a:p>
          <a:p>
            <a:r>
              <a:rPr lang="hu-HU" sz="2400" dirty="0"/>
              <a:t>Regisztráció után azonnal generál egy Sanctum Token-t így egyből beléphet a felhasználó, nem kell külön login oldalra vinni</a:t>
            </a:r>
          </a:p>
          <a:p>
            <a:r>
              <a:rPr lang="hu-HU" sz="2400" dirty="0"/>
              <a:t>Bejelentkezéskor nem csak jelszót ellenőrzünk, hanem a fiók is_active státuszát is nézzük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FD4DD1-15AB-DE37-3C1F-7ED619422C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9301" y="600736"/>
            <a:ext cx="3340153" cy="565652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7352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04235-D9A2-9C2A-D8FB-2B8665D9A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CB01E14C-8FFF-1054-86B8-FAAE97D2E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841EF0-CBFD-B7B2-0601-2E66B0E8B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0275AE50-02D7-0ECC-85C9-BC5A3A61E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EE2169-8A87-BC5F-4F3F-027F18D0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Nuxt.js </a:t>
            </a:r>
            <a:r>
              <a:rPr lang="en-US" sz="4000" dirty="0" err="1"/>
              <a:t>reakt</a:t>
            </a:r>
            <a:r>
              <a:rPr lang="hu-HU" sz="4000" dirty="0"/>
              <a:t>ív felület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DA90BD5-56B5-FCD0-A83B-09EEC23A1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699036"/>
          </a:xfrm>
        </p:spPr>
        <p:txBody>
          <a:bodyPr anchor="t">
            <a:normAutofit fontScale="85000" lnSpcReduction="20000"/>
          </a:bodyPr>
          <a:lstStyle/>
          <a:p>
            <a:r>
              <a:rPr lang="hu-HU" sz="2400" dirty="0"/>
              <a:t>useAuth: A bejelentkezési logika kiszervezése. Nem a komponensben tároljuk a tokent, hanem egy ujrahasznosítható useAuth függvényt hívunk meg, így a kód tiszta marad</a:t>
            </a:r>
          </a:p>
          <a:p>
            <a:r>
              <a:rPr lang="hu-HU" sz="2400" dirty="0"/>
              <a:t>A felület alkalmazkodik a felhasználó szerepköréhez (v-if</a:t>
            </a:r>
            <a:r>
              <a:rPr lang="en-US" sz="2400" dirty="0"/>
              <a:t>/v-else-if</a:t>
            </a:r>
            <a:r>
              <a:rPr lang="hu-HU" sz="2400" dirty="0"/>
              <a:t>)</a:t>
            </a:r>
          </a:p>
          <a:p>
            <a:r>
              <a:rPr lang="hu-HU" sz="2400" dirty="0"/>
              <a:t>A useRunTimeConfig() segítségével kezeljük a környezeti változókat (pl. Admin URL), így élesítéskor (deploy) nem kell átírni a kódot.</a:t>
            </a:r>
          </a:p>
          <a:p>
            <a:r>
              <a:rPr lang="hu-HU" sz="2400" dirty="0"/>
              <a:t>A useHead gondoskodik a meta tag-ekről, ami elengedhetetlen egy weboldal keresőoptimalizálásához.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335CF3-02AE-63E3-E0A9-3013D54A16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4640" y="673206"/>
            <a:ext cx="3569476" cy="214682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DD78D7-E958-AA00-AFA8-2709961036A5}"/>
              </a:ext>
            </a:extLst>
          </p:cNvPr>
          <p:cNvSpPr txBox="1"/>
          <p:nvPr/>
        </p:nvSpPr>
        <p:spPr>
          <a:xfrm>
            <a:off x="1254639" y="136553"/>
            <a:ext cx="35694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useAuth</a:t>
            </a:r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</a:t>
            </a:r>
            <a:r>
              <a:rPr lang="en-US" sz="20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kiemelt</a:t>
            </a:r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r</a:t>
            </a:r>
            <a:r>
              <a:rPr lang="hu-HU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észletek</a:t>
            </a:r>
            <a:endParaRPr lang="en-001" sz="20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283D90-70FE-1C1E-B07D-AC44ADABFD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1954" y="3595857"/>
            <a:ext cx="3038699" cy="306576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995CED-D9AF-6277-59E0-AB9568225CAB}"/>
              </a:ext>
            </a:extLst>
          </p:cNvPr>
          <p:cNvSpPr txBox="1"/>
          <p:nvPr/>
        </p:nvSpPr>
        <p:spPr>
          <a:xfrm>
            <a:off x="1521954" y="3097166"/>
            <a:ext cx="3038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Dinamikus részlet</a:t>
            </a:r>
            <a:endParaRPr lang="en-001" sz="20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8255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5A9AFF-9851-C4EB-E0E8-7072AB8C61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hu-HU" dirty="0"/>
              <a:t>öszönöm a figyelmet!</a:t>
            </a:r>
            <a:endParaRPr lang="en-00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8E1E115-373A-7DFE-E4DF-D8F7B24AB3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9535136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5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6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7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{240F12C8-EFEB-4FE1-8C72-658319E6F90D}TFe742eee6-54b3-45e8-a03d-f3d997f9b6caf6c338c2_win32-3734725ae7e2</Template>
  <TotalTime>92</TotalTime>
  <Words>376</Words>
  <Application>Microsoft Office PowerPoint</Application>
  <PresentationFormat>Widescreen</PresentationFormat>
  <Paragraphs>41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Goudy Old Style</vt:lpstr>
      <vt:lpstr>Wingdings 2</vt:lpstr>
      <vt:lpstr>SlateVTI</vt:lpstr>
      <vt:lpstr>Optika Weboldal – Full-stack fejlesztés</vt:lpstr>
      <vt:lpstr>Project Architektúra</vt:lpstr>
      <vt:lpstr>Adatbázis Tervezés</vt:lpstr>
      <vt:lpstr>Adatmodellek</vt:lpstr>
      <vt:lpstr>Útvonalválasztás (Routing)</vt:lpstr>
      <vt:lpstr>Hitelesítés és Regisztráció (Controller)</vt:lpstr>
      <vt:lpstr>Nuxt.js reaktív felület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Hunor Csiszer</dc:creator>
  <cp:lastModifiedBy>Hunor Csiszer</cp:lastModifiedBy>
  <cp:revision>2</cp:revision>
  <dcterms:created xsi:type="dcterms:W3CDTF">2026-01-21T14:58:36Z</dcterms:created>
  <dcterms:modified xsi:type="dcterms:W3CDTF">2026-01-21T16:35:25Z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